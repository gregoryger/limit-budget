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c42fdae59d4816" /><Relationship Type="http://schemas.openxmlformats.org/officeDocument/2006/relationships/extended-properties" Target="/docProps/app.xml" Id="R5af6f687f5c9424e" /><Relationship Type="http://schemas.openxmlformats.org/officeDocument/2006/relationships/officeDocument" Target="/ppt/presentation.xml" Id="R70e4c3d75934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81a1ba7184447"/>
  </p:sldMasterIdLst>
  <p:notesMasterIdLst>
    <p:notesMasterId xmlns:r="http://schemas.openxmlformats.org/officeDocument/2006/relationships" r:id="Rf0f8a22176914ac0"/>
  </p:notesMasterIdLst>
  <p:sldIdLst>
    <p:sldId xmlns:r="http://schemas.openxmlformats.org/officeDocument/2006/relationships" id="256" r:id="R28b1903f1f954eeb"/>
    <p:sldId xmlns:r="http://schemas.openxmlformats.org/officeDocument/2006/relationships" id="257" r:id="R238d8a5276464b4f"/>
    <p:sldId xmlns:r="http://schemas.openxmlformats.org/officeDocument/2006/relationships" id="258" r:id="Rd581a402d2c74466"/>
    <p:sldId xmlns:r="http://schemas.openxmlformats.org/officeDocument/2006/relationships" id="259" r:id="R6ccae5880fe6406e"/>
    <p:sldId xmlns:r="http://schemas.openxmlformats.org/officeDocument/2006/relationships" id="260" r:id="Re77992daa3e34186"/>
    <p:sldId xmlns:r="http://schemas.openxmlformats.org/officeDocument/2006/relationships" id="261" r:id="R58f1f2e4c7504664"/>
    <p:sldId xmlns:r="http://schemas.openxmlformats.org/officeDocument/2006/relationships" id="262" r:id="R0597e59a0c9548d9"/>
    <p:sldId xmlns:r="http://schemas.openxmlformats.org/officeDocument/2006/relationships" id="263" r:id="R989d1582b7784bb0"/>
    <p:sldId xmlns:r="http://schemas.openxmlformats.org/officeDocument/2006/relationships" id="264" r:id="R007a928ba4a843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cf9438c17b4a9b" /><Relationship Type="http://schemas.openxmlformats.org/officeDocument/2006/relationships/slideMaster" Target="/ppt/slideMasters/slideMaster1.xml" Id="R04c81a1ba7184447" /><Relationship Type="http://schemas.openxmlformats.org/officeDocument/2006/relationships/notesMaster" Target="/ppt/notesMasters/notesMaster1.xml" Id="Rf0f8a22176914ac0" /><Relationship Type="http://schemas.openxmlformats.org/officeDocument/2006/relationships/presProps" Target="/ppt/presProps.xml" Id="Rcbc8fe7172684847" /><Relationship Type="http://schemas.openxmlformats.org/officeDocument/2006/relationships/tableStyles" Target="/ppt/tableStyles.xml" Id="R4d9d518f815040cd" /><Relationship Type="http://schemas.openxmlformats.org/officeDocument/2006/relationships/slide" Target="/ppt/slides/slide1.xml" Id="R28b1903f1f954eeb" /><Relationship Type="http://schemas.openxmlformats.org/officeDocument/2006/relationships/slide" Target="/ppt/slides/slide2.xml" Id="R238d8a5276464b4f" /><Relationship Type="http://schemas.openxmlformats.org/officeDocument/2006/relationships/slide" Target="/ppt/slides/slide3.xml" Id="Rd581a402d2c74466" /><Relationship Type="http://schemas.openxmlformats.org/officeDocument/2006/relationships/slide" Target="/ppt/slides/slide4.xml" Id="R6ccae5880fe6406e" /><Relationship Type="http://schemas.openxmlformats.org/officeDocument/2006/relationships/slide" Target="/ppt/slides/slide5.xml" Id="Re77992daa3e34186" /><Relationship Type="http://schemas.openxmlformats.org/officeDocument/2006/relationships/slide" Target="/ppt/slides/slide6.xml" Id="R58f1f2e4c7504664" /><Relationship Type="http://schemas.openxmlformats.org/officeDocument/2006/relationships/slide" Target="/ppt/slides/slide7.xml" Id="R0597e59a0c9548d9" /><Relationship Type="http://schemas.openxmlformats.org/officeDocument/2006/relationships/slide" Target="/ppt/slides/slide8.xml" Id="R989d1582b7784bb0" /><Relationship Type="http://schemas.openxmlformats.org/officeDocument/2006/relationships/slide" Target="/ppt/slides/slide9.xml" Id="R007a928ba4a8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ae89a74a5a41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c081d14574df2" /><Relationship Type="http://schemas.openxmlformats.org/officeDocument/2006/relationships/notesMaster" Target="/ppt/notesMasters/notesMaster1.xml" Id="Rabaa4f39558a43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7e86dff5ff4c51" /><Relationship Type="http://schemas.openxmlformats.org/officeDocument/2006/relationships/notesMaster" Target="/ppt/notesMasters/notesMaster1.xml" Id="Rf7df18852b8d4b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739c79c9a46d4" /><Relationship Type="http://schemas.openxmlformats.org/officeDocument/2006/relationships/notesMaster" Target="/ppt/notesMasters/notesMaster1.xml" Id="Red018319138d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dacc9aeaa84e80" /><Relationship Type="http://schemas.openxmlformats.org/officeDocument/2006/relationships/notesMaster" Target="/ppt/notesMasters/notesMaster1.xml" Id="R129965d2de7244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5b7b8cec90480a" /><Relationship Type="http://schemas.openxmlformats.org/officeDocument/2006/relationships/notesMaster" Target="/ppt/notesMasters/notesMaster1.xml" Id="R9ce0c8b120aa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a7a55be6b5480f" /><Relationship Type="http://schemas.openxmlformats.org/officeDocument/2006/relationships/notesMaster" Target="/ppt/notesMasters/notesMaster1.xml" Id="Rd7651ed5b874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26106eed4144b0" /><Relationship Type="http://schemas.openxmlformats.org/officeDocument/2006/relationships/notesMaster" Target="/ppt/notesMasters/notesMaster1.xml" Id="Ra16edbfc338a41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34bbb4e79a4661" /><Relationship Type="http://schemas.openxmlformats.org/officeDocument/2006/relationships/notesMaster" Target="/ppt/notesMasters/notesMaster1.xml" Id="R034b02b400d949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c2d64c9230406b" /><Relationship Type="http://schemas.openxmlformats.org/officeDocument/2006/relationships/notesMaster" Target="/ppt/notesMasters/notesMaster1.xml" Id="R5a7e2a06588541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20 секунд. Лимит — независимый хакатон-прототип помощника по личному бюджету. Он помогает студенту с подработкой ответить на конкретный вопрос: можно ли позволить себе покупку сейчас, сколько реально свободных денег и хватит ли до конца месяца. Визуальный стиль вдохновлён Т-Банком; банковской интеграции и аффилиации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 Студент получает нерегулярные поступления, а аренда, связь и транспорт ещё впереди. Обычная история операций отвечает на вопрос, куда ушли деньги, но не всегда на вопрос, можно ли совершить новую покупку. По данным команды, в кастдеве 20 из 20 опрошенных предпочли бы приложение для решения этой задачи. Это качественный сигнал маленькой выборки, а не репрезентативное доказательство рыночного спроса или готовности платить. Контекст: в опросе Банка России 2024 года 96% молодёжи 14–22 лет пользовались финансовыми технологиями, 61% формировали сбережения. Источник: https://www.cbr.ru/analytics/szpp/fin_literacy/research/fin_ed_5/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 Персона условная, а не конкретный участник интервью: студентка 20 лет, подработка и стипендия поступают неравномерно, часть денег уже обещана за жильё и транспорт. User story: когда хочу купить телефон или снять жильё, я хочу увидеть последствия до оплаты. JTBD: в момент принятия решения превратить текущий остаток и известные обязательства в понятный вариант действий. Продуктовая гипотеза для пилота: если дать проверяемый импорт выписки и сценарий покупки, не менее 40% новых пользователей завершат импорт и хотя бы один сценарий в первой сессии. 40% — целевой порог, не достигнутый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 Верхняя граница аудитории — 4,4317 млн студентов высшего образования на начало 2024/25 года по Росстату плюс около 3,85 млн студентов СПО по Минпросвещения в 2025 году. Сумма округлена до 8,28 млн человек; периоды немного различаются. Это не объём платящего рынка. Первичный адресуемый сегмент рассчитываем как гипотезу: 25% студентов с переменными доходами и обязательными платежами, то есть 2,07 млн человек. Цель на 3–5 лет — 1% этого сегмента или около 20,7 тысячи ежемесячно активных пользователей; это сценарий достижения, а не подтверждённый прогноз. Каналы проверки: кампусы, студенческие сообщества и пилоты с финансовыми партнёрами. Источники: https://www.rosstat.gov.ru/storage/mediabank/Soc_pol_2025.pdf ; https://edu.gov.ru/press/10189/priemnaya-kampaniya-2025-v-spo-chislo-zayavleniy-uvelichilos-uzhe-na-800-tysyach/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40 секунд. Показываем работающий продукт, не макет. Пользователь загружает CSV или текстовый PDF либо открывает синтетическое демо. Сервер извлекает строки и получает структурированный ответ GigaChat при наличии ключа. Каждая строка видна на предварительной проверке; сомнительную операцию нужно исправить или исключить. После подтверждения арифметику считает код, а не модель. Пользователь вводит фактический остаток и будущие обязательства. Отдельно видит свободные деньги и сценарии разовой или ежемесячной покупки. Демо без ключа явно помечено. В репозитории проходят 47 тестов. Скриншот — локальный демо-режим проекта. Источник: код проекта, README и тесты на 27.09.2026.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 Мы не утверждаем, что у конкурентов нет отдельных похожих функций. Т-Банк хорошо закрывает историю и категории операций. Дзен-мани предлагает плановые операции, прогнозы и свободные деньги. CoinKeeper уже предлагает импорт PDF, AI-ассистента и вопросы к бюджету. Наше позиционирование для студента — короткая, проверяемая цепочка от строки выписки до конкретного сценария покупки и понятного решения. Наличие этой ценности относительно конкурентов ещё нужно доказать сравнительными пользовательскими тестами. Источники: https://www.tbank.ru/finance/blog/analyze-spendings/ ; https://pc.zenmoney.ru/index.html ; https://coinkeeper.me/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40 секунд. Пока модель не подтверждена продажами. Клиент в платной модели — банк или финтех-партнёр; конечный пользователь — студент. Ценность — решение по конкретной трате с проверяемой арифметикой. Каналы — кампусные сообщества и партнёрские приложения. Отношения — самостоятельный сценарий и понятное объяснение. Доход — лицензия за ежемесячно активного пользователя, без продажи выписок. Партнёры — университеты, финансовые организации и провайдер модели. Ресурсы — команда и безопасный контур данных. Деятельность — импорт, проверка, расчёт, развитие сценариев. Издержки — инфраструктура, модель, безопасность, поддержка, дистрибуция. Цена на следующем слайде только тестовая.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 Все цифры на слайде — гипотезы для переговоров с партнёром, а не фактическая выручка или стоимость. Если партнёр платит 30 рублей за MAU в месяц, а переменная стоимость составляет 8 рублей, вклад составляет 22 рубля. При стоимости привлечения активного пользователя 60 рублей окупаемость наступает через 60/22 = 2,7 активных месяца. При девяти активных месяцах LTV по валовой марже 198 рублей, отношение LTV/CAC = 3,3. Пилот должен измерить фактические стоимость AI, активность, удержание и готовность партнёра платить.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45 секунд. Сейчас есть локальный работающий MVP: загрузка CSV и текстового PDF, ручная проверка строк, прогноз, свободные деньги и сценарии, 47 проходящих тестов. Следующий шаг — ограниченный пилот на 100 пользователей с синтетическими или добровольно обезличенными выписками; измеряем завершение сценария, повторное использование и качество рекомендаций. Затем — безопасность, авторизация, расширение форматов, точные даты будущих платежей и надёжность GigaChat. После этого — B2B2C-пилот с партнёром. Через 3–5 лет ориентир 20,7 тысячи MAU, если подтвердятся спрос и каналы. Нужны площадки для пилота и обратная связь, а не утверждение о уже заключённых партнёрствах.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92d29bbd24c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b29c4a7e6f4c28" /><Relationship Type="http://schemas.openxmlformats.org/officeDocument/2006/relationships/slideLayout" Target="/ppt/slideLayouts/slideLayout1.xml" Id="R3db77663646b4e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77663646b4e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f8e7205d4c7a" /><Relationship Type="http://schemas.openxmlformats.org/officeDocument/2006/relationships/notesSlide" Target="/ppt/notesSlides/notesSlide1.xml" Id="R2a5dc11bd9f04f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3137590424ee9" /><Relationship Type="http://schemas.openxmlformats.org/officeDocument/2006/relationships/notesSlide" Target="/ppt/notesSlides/notesSlide2.xml" Id="R4b1679d2784e46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6f72adb464b62" /><Relationship Type="http://schemas.openxmlformats.org/officeDocument/2006/relationships/notesSlide" Target="/ppt/notesSlides/notesSlide3.xml" Id="R8e800cdd8a3c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c3ee97e8d4b11" /><Relationship Type="http://schemas.openxmlformats.org/officeDocument/2006/relationships/notesSlide" Target="/ppt/notesSlides/notesSlide4.xml" Id="R031ff393b5df4e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7dc5570114dac" /><Relationship Type="http://schemas.openxmlformats.org/officeDocument/2006/relationships/image" Target="/ppt/media/image.png" Id="Rb7ef5b052baf460c" /><Relationship Type="http://schemas.openxmlformats.org/officeDocument/2006/relationships/notesSlide" Target="/ppt/notesSlides/notesSlide5.xml" Id="Rb2564936f03348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bc783fbb44419" /><Relationship Type="http://schemas.openxmlformats.org/officeDocument/2006/relationships/notesSlide" Target="/ppt/notesSlides/notesSlide6.xml" Id="R85132fd88a2542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d4f5882cd4286" /><Relationship Type="http://schemas.openxmlformats.org/officeDocument/2006/relationships/notesSlide" Target="/ppt/notesSlides/notesSlide7.xml" Id="Rd6bedcceb69d48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6a9a259f74125" /><Relationship Type="http://schemas.openxmlformats.org/officeDocument/2006/relationships/notesSlide" Target="/ppt/notesSlides/notesSlide8.xml" Id="R2db1a097d13d4e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7624b769c4b28" /><Relationship Type="http://schemas.openxmlformats.org/officeDocument/2006/relationships/notesSlide" Target="/ppt/notesSlides/notesSlide9.xml" Id="R64fc58a9faf4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EADA9-B1F4-4F47-AD3E-68FE5BD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0DAB0-1B79-409F-A801-83CC571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7E1A8-8B87-4F36-AB11-53675F7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7D94B-08AC-42F4-9266-4E251FD6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232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5D19-2F3B-433B-A356-2B14A2AB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096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517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Из намерения</a:t>
            </a:r>
          </a:p>
          <a:p xmlns:a="http://schemas.openxmlformats.org/drawingml/2006/main">
            <a:pPr algn="l">
              <a:defRPr sz="517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517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в финансовое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3A510-FD06-4E4E-8986-2119AE5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22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«Купить сейчас, подождать или сократить траты?»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AAD7-E815-43C4-9DFE-846BBE17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FA3AF-3A4D-4351-84A4-33C7EE8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00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AI-помощник по личному бюджету студента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A9017-970B-4D46-9670-427D4595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873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737873"/>
                </a:solidFill>
                <a:latin typeface="Rubik"/>
                <a:ea typeface="Rubik"/>
                <a:cs typeface="Rubik"/>
              </a:rPr>
              <a:t>Хакатон-прототип ·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2068445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5C8D3-BC1D-42D6-8A99-0A21A2C1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Проблема: баланс не равен свободным деньгам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5BD3E-5452-4A2D-A5C3-132E5D26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79A77-E1BE-41A3-8D5A-65A7292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A5A32-7913-4E1F-88D6-06F353A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D2355-5005-452C-9105-84EB1B98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4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КАСТДЕВ КОМАНДЫ, N =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0FDD-2124-4DB7-88AA-60E454E9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840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20/20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41F31-372C-47D1-8358-757C6F5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4810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опрошенных предпочли бы</a:t>
            </a:r>
          </a:p>
          <a:p xmlns:a="http://schemas.openxmlformats.org/drawingml/2006/main">
            <a:pPr algn="l">
              <a:defRPr sz="217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такой формат решения задачи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95487-5EAB-4800-ACE6-2BDD05A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8115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5F9DA-967E-4F51-910A-5BA96B0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ПОВСЕДНЕВНЫЙ ВОПРОС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B5239-531F-4E5F-84EC-08DD70C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«Если купить телефон</a:t>
            </a:r>
          </a:p>
          <a:p xmlns:a="http://schemas.openxmlformats.org/drawingml/2006/main">
            <a:pPr algn="l">
              <a:defRPr sz="26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за 50 000 ₽, что останется</a:t>
            </a:r>
          </a:p>
          <a:p xmlns:a="http://schemas.openxmlformats.org/drawingml/2006/main">
            <a:pPr algn="l">
              <a:defRPr sz="26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6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после обязательных платежей?»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2FF65-7ABC-462F-AF05-2B8CB83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Сигнал из интервью ≠ доказанная готовность пользоваться или платить.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04CC9-CC01-4C27-8743-B53A6581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02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7873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737873"/>
                </a:solidFill>
                <a:latin typeface="Rubik"/>
                <a:ea typeface="Rubik"/>
                <a:cs typeface="Rubik"/>
              </a:rPr>
              <a:t>Контекст: Банк России, 2024 — 96% молодёжи 14–22 лет пользуются финтехом.</a:t>
            </a:r>
          </a:p>
        </p:txBody>
      </p:sp>
    </p:spTree>
    <p:extLst>
      <p:ext uri="{BB962C8B-B14F-4D97-AF65-F5344CB8AC3E}">
        <p14:creationId xmlns:p14="http://schemas.microsoft.com/office/powerpoint/2010/main" val="151689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8CDC-4A2B-49F9-B405-65FC42C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Кому помогаем и какую работу выполняем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0E903-ABD1-4C30-B61A-2AC1767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94814-BD8E-4118-A145-8B34DE5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E2CF4-089C-4FA3-9F34-4BC62BB9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21156-96B7-4BC9-AC35-46278BC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ПЕРСОНА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9751E-1B7E-4D1E-89DD-FFD469B4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55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Аня, 20 лет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1A8D5-168E-4579-A15B-35426C8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8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Учёба + подработка. Доход по датам неровный,</a:t>
            </a:r>
          </a:p>
          <a:p xmlns:a="http://schemas.openxmlformats.org/drawingml/2006/main">
            <a:pPr algn="l">
              <a:defRPr sz="18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8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аренда и подписки ещё впереди.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F4643-27B3-4EE1-B699-B68D8012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7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USER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A9C1F-CC6F-4E39-9068-1D9C288C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51720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«Когда планирую крупную трату, хочу заранее увидеть, хватит ли денег на жизнь и обязательства».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EF6A4-9A22-4491-879F-71CC74F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61590-5E35-4BCE-8B09-BE94AF3F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JTBD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9C705-E13A-4710-96DA-BC5BF509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3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Помоги принять решение: купить сейчас, подождать конкретный срок или снизить другую статью расходов.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C519E-E451-445C-B245-E96454D7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D6B4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8D6B4"/>
                </a:solidFill>
                <a:latin typeface="Rubik"/>
                <a:ea typeface="Rubik"/>
                <a:cs typeface="Rubik"/>
              </a:rPr>
              <a:t>Гипотеза пилота: ≥40% новых пользователей завершат импорт и один сценарий в первой сессии.</a:t>
            </a:r>
          </a:p>
        </p:txBody>
      </p:sp>
    </p:spTree>
    <p:extLst>
      <p:ext uri="{BB962C8B-B14F-4D97-AF65-F5344CB8AC3E}">
        <p14:creationId xmlns:p14="http://schemas.microsoft.com/office/powerpoint/2010/main" val="1186683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212B4-B2CF-4B7D-9A11-98673D75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Рынок: 8,28 млн студентов как верхняя граница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FCC5B-DF77-41E2-9136-9249530E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400FC-5D02-4A1A-9C3C-CBDA7441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0ED4C-ECF7-4A3E-B56A-89CE4960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7F709-5149-445C-94DC-BE7941C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ПОТЕНЦИАЛЬНАЯ АУДИТОРИЯ В РОССИИ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E0820-7416-44A7-822A-79F8A73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465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4,43 млн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1AD67-51BE-4D36-AC44-9AB8AA5F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76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8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студентов вузов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6F9A2-B185-4EF6-900D-C5F1E6B1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523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39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46574-F2DF-4C86-9441-56B5AC5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572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465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3,85 млн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8D3E1-309D-49A6-849C-6CB8524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76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8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студентов СПО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D577D-28C7-4D42-A097-35FBBCC7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98EE4-C71C-49B5-89B7-32E2E1FF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36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SAM · 2,07 млн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E51D0-0F88-4F64-AEA0-0259614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962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25% с нерегулярным доходом и обязательствами — допущение для проверки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24908-9062-483F-9986-4872BF5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36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SOM · 20,7 тыс.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B7DDD-17BF-496A-9EB5-BB13F378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243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Цель на 3–5 лет: 1% SAM через кампусы и партнёров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40DCC-312C-4104-85FA-2BF17D2A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7873"/>
                </a:solidFill>
                <a:latin typeface="Rubik"/>
                <a:ea typeface="Rubik"/>
                <a:cs typeface="Rubik"/>
              </a:defRPr>
            </a:pPr>
            <a:r>
              <a:rPr sz="1200" b="0">
                <a:solidFill>
                  <a:srgbClr val="737873"/>
                </a:solidFill>
                <a:latin typeface="Rubik"/>
                <a:ea typeface="Rubik"/>
                <a:cs typeface="Rubik"/>
              </a:rPr>
              <a:t>Источники: Росстат (вузы, 2024/25), Минпросвещения (СПО, 2025). SAM/SOM — сценарные оценки.</a:t>
            </a:r>
          </a:p>
        </p:txBody>
      </p:sp>
    </p:spTree>
    <p:extLst>
      <p:ext uri="{BB962C8B-B14F-4D97-AF65-F5344CB8AC3E}">
        <p14:creationId xmlns:p14="http://schemas.microsoft.com/office/powerpoint/2010/main" val="97045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324EF-5034-4AF1-A658-0853D746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MVP: путь от выписки до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16BC-BD46-4B9D-8AE5-553A4233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458B4-7097-42BC-8D10-EBE14BC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15319-7FDC-4A51-94CE-0AD9F55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C2287-9825-498E-94F8-889D7086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C6F1A-257A-41F8-955C-DE8D9766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Загрузить выписку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9AAAF-B251-4CA2-876A-DBBECD19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CSV или текстовый PDF; есть синтетическое демо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DEE4A-94CA-49DF-B11E-A6D6FD9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6969C-52A5-4004-ABC0-5F541797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03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Проверить строки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47EDE-EC72-40E7-A789-8C7A402B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19425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Суммы, категории, неоднозначные операции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1A533-E432-474F-9077-FB290EDD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5BC3B-9998-4E5A-8576-CADE9EF9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Рассчитать план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1E82E-6795-4B00-A4BC-C93C6FC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Остаток, обязательства, ежедневные траты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52189-3013-490F-B0C9-4919696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59238-93BF-41AB-8ADC-9FF7119A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672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0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Решить «что если»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D71C5-1545-407F-B5ED-2D04568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86375"/>
            <a:ext cx="4333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Купить сейчас, позже или сократить расход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7E703-78CD-4511-B9CA-7A78DD1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285875"/>
            <a:ext cx="56388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02224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f5b052baf460c"/>
          <a:stretch xmlns:a="http://schemas.openxmlformats.org/drawingml/2006/main"/>
        </p:blipFill>
        <p:spPr>
          <a:xfrm xmlns:a="http://schemas.openxmlformats.org/drawingml/2006/main">
            <a:off x="5934075" y="1435100"/>
            <a:ext cx="5391150" cy="4492625"/>
          </a:xfrm>
          <a:prstGeom xmlns:a="http://schemas.openxmlformats.org/drawingml/2006/main" prst="roundRect">
            <a:avLst>
              <a:gd name="adj" fmla="val 2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4671C-FD32-47C4-9DCF-E32A819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37873"/>
                </a:solidFill>
                <a:latin typeface="Rubik"/>
                <a:ea typeface="Rubik"/>
                <a:cs typeface="Rubik"/>
              </a:defRPr>
            </a:pPr>
            <a:r>
              <a:rPr sz="1275" b="0">
                <a:solidFill>
                  <a:srgbClr val="737873"/>
                </a:solidFill>
                <a:latin typeface="Rubik"/>
                <a:ea typeface="Rubik"/>
                <a:cs typeface="Rubik"/>
              </a:rPr>
              <a:t>Демо без ключа честно помечено; GigaChat доступен через серверный адаптер.</a:t>
            </a:r>
          </a:p>
        </p:txBody>
      </p:sp>
    </p:spTree>
    <p:extLst>
      <p:ext uri="{BB962C8B-B14F-4D97-AF65-F5344CB8AC3E}">
        <p14:creationId xmlns:p14="http://schemas.microsoft.com/office/powerpoint/2010/main" val="268980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8AAA2-DD2C-4CCF-AFEC-70594AB7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Конкуренты сильны. Наш фокус — решение по трате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3F3A6-FE1C-486E-8510-D8D1183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C65A3-FA1C-498E-B267-76485B48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125F4-D3DE-4507-84A6-2E3F0DED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63F39-4B24-407F-8CAA-67EF490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F2C7E-BF15-488D-954C-D967EB6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95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ПОДТВЕРЖДЁННЫЙ ФОКУС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3063-9596-459D-8435-72E5718E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95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НАШ ВЫВОД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BAC09-BACF-4CB7-94B2-C37270EA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06F06-FFF4-4C52-BE65-8E286617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Т-Банк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E0479-6081-4D3A-AC46-25824FAB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4762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История и категории операций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CE99E-D87E-482D-B820-1D5DDF8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76450"/>
            <a:ext cx="3495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Сильная банковская дистрибуция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C8865-F9FA-407C-947F-B1258DCC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A1ED0-6C85-45EA-99B8-B8C43757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Дзен-мани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DD8B0-0D4E-4B02-A97E-1891D96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38475"/>
            <a:ext cx="4762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Планы, прогноз, свободные деньги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55716-26EB-4A32-B648-AAA3BB9C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495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Полноценный бюджетный учёт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D60B5-A0B0-464B-B2DA-A3B8875A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B012D-A7FF-4C06-A965-E772239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CoinKeeper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0820D-1953-4F96-84F7-2C1F2F20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4762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PDF-импорт и AI-вопросы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19238-6C90-4E3A-BE89-44D33212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495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Ближайший функциональный конкурент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41A1C-989F-4162-A0FD-25DC3B9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CC300-1F14-4DFD-9758-0455D400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209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Лимит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3D57E-9377-4681-BB35-F7699471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62525"/>
            <a:ext cx="4762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От строки выписки к сценарию покупки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B5902-38A5-4B68-8DC8-A6EABE62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62525"/>
            <a:ext cx="3495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0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Узкий студенческий контекст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19751-11CA-451C-8BD2-6C53DD31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37873"/>
                </a:solidFill>
                <a:latin typeface="Rubik"/>
                <a:ea typeface="Rubik"/>
                <a:cs typeface="Rubik"/>
              </a:defRPr>
            </a:pPr>
            <a:r>
              <a:rPr sz="1275" b="0">
                <a:solidFill>
                  <a:srgbClr val="737873"/>
                </a:solidFill>
                <a:latin typeface="Rubik"/>
                <a:ea typeface="Rubik"/>
                <a:cs typeface="Rubik"/>
              </a:rPr>
              <a:t>Позиционирование — гипотеза. Нужны сравнительные тесты с реальными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902615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3736D-A978-437F-8B84-C582E6A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Бизнес-модель Остервальдера: B2B2C-гипотеза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75127-32C4-4A83-8313-6AC2753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8FB2-513D-49C4-9103-DE6BE1F5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E08F7-C0E3-4678-BF17-B26C95D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FE1E0-7CAF-4996-B24D-6C0915F6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ПАРТНЁРЫ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23546-B32C-4182-AD54-6670D326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Вузы, финтехи, AI-провайдер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144E-7444-45E0-831C-1D0DF2E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32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E8CA0-3284-4887-A6F1-F91B2E1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BF121-46DC-4F61-9573-863F36E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Импорт, верификация, расчёт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CF4E6-F203-4B9B-90CC-B360E93B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32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6357F-A079-4753-99C1-54E313A8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РЕСУРСЫ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F647A-5023-4241-968E-46D3CEA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Команда, алгоритмы, безопасность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FAAA4-14AB-496E-8724-646C0D7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ЦЕННОСТЬ / УТП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69388-4FC0-4837-8F2C-978ECDF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573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Решение о покупке на своём бюджете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C3CCE-0B35-4B0F-8305-EC576AD2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332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6B834-A42D-4B32-9AA5-7176AA0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ОТНОШЕНИЯ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8B62E-9CF3-4F0B-83CC-4FFA9039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861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Самообслуживание + объяснение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D15E9-64FC-4ABA-B402-68EF7DC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52900"/>
            <a:ext cx="332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32AEA-5DA3-4629-9CF3-B40F9D3A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33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КАНАЛЫ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BA659-65F6-4FBC-B914-0B4980A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148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Кампусы и партнёрские приложения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524FE-1EA6-4C14-A8BA-7A0BCB7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763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КЛИЕНТЫ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02097-1AB6-4A3D-B687-A15B880D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573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Студенты; платящий клиент — партнёр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5AB35-6ED0-4EA8-95ED-F95FB145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32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17B58-8DC0-492D-B842-FC8A59BA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05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ДОХОД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AF885-C6CA-4473-BAF0-7A840A6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861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Лицензия за активного пользователя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6CE80-0ACF-4B5D-9915-0BFAAC4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3324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E73ED-112B-483D-984B-C7A8A1AE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33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ИЗДЕРЖКИ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873CA-1258-4097-B4DC-7CC2F885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148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1875" b="0">
                <a:solidFill>
                  <a:srgbClr val="F7F5EF"/>
                </a:solidFill>
                <a:latin typeface="Rubik"/>
                <a:ea typeface="Rubik"/>
                <a:cs typeface="Rubik"/>
              </a:rPr>
              <a:t>AI, инфраструктура, поддержка, CAC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8D6EA-B66D-4DCF-89B5-AE23CC1D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7873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737873"/>
                </a:solidFill>
                <a:latin typeface="Rubik"/>
                <a:ea typeface="Rubik"/>
                <a:cs typeface="Rubik"/>
              </a:rPr>
              <a:t>Модель требует подтверждения пилотом: партнёров и договоров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420145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A71A8-4501-4898-968C-AD4BACCA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Юнит-экономика: сценарий для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D4C77-D572-4ACE-B452-BD749CE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B7ED8-D31A-46B4-BC5E-C37F9AF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BDA40-7C2D-488A-BA31-F0F4FF42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9BE4D-36FF-446C-8DCF-3446176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ПИЛОТНАЯ ЦЕНОВАЯ ГИПОТЕЗА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37DB8-6D5B-4975-B443-C84309E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562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30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FBF92-1570-4632-BA23-6988BBC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выручка / MAU / месяц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F9FAF-80A2-4D8A-BED0-9EB647DF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9072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56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− 8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45FFE-C900-44EC-ABD0-5EC654CE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переменные затраты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41BB7-47F4-4746-8DF5-D615D5F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A8D6B4"/>
                </a:solidFill>
                <a:latin typeface="Rubik"/>
                <a:ea typeface="Rubik"/>
                <a:cs typeface="Rubik"/>
              </a:defRPr>
            </a:pPr>
            <a:r>
              <a:rPr sz="5625" b="1">
                <a:solidFill>
                  <a:srgbClr val="A8D6B4"/>
                </a:solidFill>
                <a:latin typeface="Rubik"/>
                <a:ea typeface="Rubik"/>
                <a:cs typeface="Rubik"/>
              </a:rPr>
              <a:t>= 22 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EA698-5012-4A17-A40F-050DE08A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3370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вклад / MAU / месяц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E80B-DB1C-4202-8DDC-464C4EFE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820EB-37CC-46CA-A728-3898B22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41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2,7 мес.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30FC4-AC77-422B-A9F2-5E9745C9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окупаемость CAC 60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D4BF-6E7D-479B-B2D5-85CEDDE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41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3,3×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DF8BD-9924-4EC9-ADB3-18E473C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514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LTV/CAC при 9 активных месяцах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2BE5B-9986-40EA-8BE8-05BA227A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425" b="0">
                <a:solidFill>
                  <a:srgbClr val="FFD52E"/>
                </a:solidFill>
                <a:latin typeface="Rubik"/>
                <a:ea typeface="Rubik"/>
                <a:cs typeface="Rubik"/>
              </a:rPr>
              <a:t>Все значения — допущения. Проверяем цену, затраты и удержание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277415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265D7-0B66-4602-9E12-CC30733C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Роадмап: от MVP к проверенной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91384-5A11-4F19-A60E-3372399E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9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CBA68-434B-446E-8D4C-D0019531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ЛИМИТ.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5D66-CC60-4FD5-B45F-15211BF2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72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050" b="1">
                <a:solidFill>
                  <a:srgbClr val="AEB0AB"/>
                </a:solidFill>
                <a:latin typeface="Rubik"/>
                <a:ea typeface="Rubik"/>
                <a:cs typeface="Rubik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F0CD1-2A81-42CD-A35E-68D53F2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СЕЙЧАС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5041D-DFC1-4121-9003-322BBD9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9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4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MVP готов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DB496-9378-4FAB-8C3D-BB4DF9E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FBDF7-3A74-4EBA-8FC3-41EB0258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43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Загрузка и проверка выписки, бюджет, решение</a:t>
            </a:r>
          </a:p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47 тестов проходят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1AAB4-174B-487A-B30B-A299C8D4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0–3 МЕС.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FA4EF-E989-4153-908B-4A65DC80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09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4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Пилот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C375A-148A-4026-BD07-D0DF4DBA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99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212F9-2AB8-4E4B-99D0-25A5E429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2343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100 человек; замер импорта, сценариев, повторного использования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4C21-0B56-4A7F-A1E7-86094A5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3–12 МЕС.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1F8F7-DC2B-4CE9-A23A-607A538D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409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4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Надёжность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C75AF-4D3C-47D2-AA85-1272F5E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99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1FDD9-86FA-459A-98FA-CB2EDC30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2343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Безопасность, авторизация, форматы, даты платежей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A7BF3-7116-4DBF-BE4C-5B85302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275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3–5 ЛЕТ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6099C-DBBE-45F5-AE81-DC4C873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4098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EF"/>
                </a:solidFill>
                <a:latin typeface="Rubik"/>
                <a:ea typeface="Rubik"/>
                <a:cs typeface="Rubik"/>
              </a:defRPr>
            </a:pPr>
            <a:r>
              <a:rPr sz="2400" b="1">
                <a:solidFill>
                  <a:srgbClr val="F7F5EF"/>
                </a:solidFill>
                <a:latin typeface="Rubik"/>
                <a:ea typeface="Rubik"/>
                <a:cs typeface="Rubik"/>
              </a:rPr>
              <a:t>Рост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9FE10-BA5C-4A96-B3D0-4636C8DF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9BA0D-5FAB-4E88-A2BC-95FD5117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343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0AB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AEB0AB"/>
                </a:solidFill>
                <a:latin typeface="Rubik"/>
                <a:ea typeface="Rubik"/>
                <a:cs typeface="Rubik"/>
              </a:rPr>
              <a:t>Партнёрский канал; цель 20,7 тыс. MAU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B475D-CFE3-4433-91A6-55082C0F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52E"/>
                </a:solidFill>
                <a:latin typeface="Rubik"/>
                <a:ea typeface="Rubik"/>
                <a:cs typeface="Rubik"/>
              </a:defRPr>
            </a:pPr>
            <a:r>
              <a:rPr sz="1950" b="1">
                <a:solidFill>
                  <a:srgbClr val="FFD52E"/>
                </a:solidFill>
                <a:latin typeface="Rubik"/>
                <a:ea typeface="Rubik"/>
                <a:cs typeface="Rubik"/>
              </a:rPr>
              <a:t>Следующий шаг: найти площадки для пилота и проверить реальные поведенческие метрики.</a:t>
            </a:r>
          </a:p>
        </p:txBody>
      </p:sp>
    </p:spTree>
    <p:extLst>
      <p:ext uri="{BB962C8B-B14F-4D97-AF65-F5344CB8AC3E}">
        <p14:creationId xmlns:p14="http://schemas.microsoft.com/office/powerpoint/2010/main" val="124027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2026-09-27T03:51:00.7230000Z</dcterms:created>
  <dcterms:modified xsi:type="dcterms:W3CDTF">2026-09-27T03:51:00.7230000Z</dcterms:modified>
</coreProperties>
</file>